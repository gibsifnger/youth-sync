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4545"/>
    <a:srgbClr val="D49B2A"/>
    <a:srgbClr val="B14AB4"/>
    <a:srgbClr val="BA44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84" y="1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383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02870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05740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308610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FFFFFF">
                <a:alpha val="8000"/>
              </a:srgbClr>
            </a:solidFill>
            <a:prstDash val="solid"/>
          </a:ln>
        </p:spPr>
      </p:sp>
      <p:grpSp>
        <p:nvGrpSpPr>
          <p:cNvPr id="31" name="그룹 30"/>
          <p:cNvGrpSpPr/>
          <p:nvPr/>
        </p:nvGrpSpPr>
        <p:grpSpPr>
          <a:xfrm>
            <a:off x="3998256" y="725248"/>
            <a:ext cx="1143000" cy="1143000"/>
            <a:chOff x="4114800" y="411480"/>
            <a:chExt cx="1143000" cy="1143000"/>
          </a:xfrm>
        </p:grpSpPr>
        <p:sp>
          <p:nvSpPr>
            <p:cNvPr id="15" name="Shape 13"/>
            <p:cNvSpPr/>
            <p:nvPr/>
          </p:nvSpPr>
          <p:spPr>
            <a:xfrm>
              <a:off x="4114800" y="411480"/>
              <a:ext cx="1143000" cy="1143000"/>
            </a:xfrm>
            <a:prstGeom prst="ellipse">
              <a:avLst/>
            </a:prstGeom>
            <a:solidFill>
              <a:srgbClr val="4F8EF7">
                <a:alpha val="25000"/>
              </a:srgbClr>
            </a:solidFill>
            <a:ln/>
          </p:spPr>
        </p:sp>
        <p:pic>
          <p:nvPicPr>
            <p:cNvPr id="16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89120" y="626006"/>
              <a:ext cx="594360" cy="594360"/>
            </a:xfrm>
            <a:prstGeom prst="rect">
              <a:avLst/>
            </a:prstGeom>
          </p:spPr>
        </p:pic>
      </p:grpSp>
      <p:sp>
        <p:nvSpPr>
          <p:cNvPr id="17" name="Text 14"/>
          <p:cNvSpPr/>
          <p:nvPr/>
        </p:nvSpPr>
        <p:spPr>
          <a:xfrm>
            <a:off x="0" y="367553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50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SERVICE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48239" y="1631532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Youth-Sync</a:t>
            </a:r>
            <a:endParaRPr lang="en-US" sz="7200" dirty="0"/>
          </a:p>
        </p:txBody>
      </p:sp>
      <p:sp>
        <p:nvSpPr>
          <p:cNvPr id="19" name="Shape 16"/>
          <p:cNvSpPr/>
          <p:nvPr/>
        </p:nvSpPr>
        <p:spPr>
          <a:xfrm>
            <a:off x="2935045" y="2708238"/>
            <a:ext cx="3291840" cy="54864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289111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청년지원정책 AI 챗봇 서비스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371600" y="4160520"/>
            <a:ext cx="192024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1371600" y="4233135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김형진</a:t>
            </a:r>
            <a:r>
              <a:rPr lang="en-US" altLang="ko-KR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,</a:t>
            </a:r>
            <a:r>
              <a:rPr lang="ko-KR" altLang="en-US" sz="800" b="1" dirty="0" err="1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오세덕</a:t>
            </a:r>
            <a:r>
              <a:rPr lang="en-US" altLang="ko-KR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,</a:t>
            </a:r>
            <a:r>
              <a:rPr lang="ko-KR" altLang="en-US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김소현</a:t>
            </a:r>
            <a:r>
              <a:rPr lang="en-US" altLang="ko-KR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,</a:t>
            </a:r>
            <a:r>
              <a:rPr lang="ko-KR" altLang="en-US" sz="800" b="1" dirty="0" err="1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김효균</a:t>
            </a:r>
            <a:r>
              <a:rPr lang="en-US" altLang="ko-KR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,</a:t>
            </a:r>
            <a:r>
              <a:rPr lang="ko-KR" altLang="en-US" sz="8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김준서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371600" y="453435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</a:t>
            </a:r>
            <a:r>
              <a:rPr lang="en-US" sz="10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840480" y="4160520"/>
            <a:ext cx="192024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3840480" y="4206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2026.04.17~2026.05.07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840480" y="4561245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309360" y="4160520"/>
            <a:ext cx="1920240" cy="68580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4251065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 프로젝트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309360" y="4561245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27432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8EF7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목표와 의도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2286000"/>
            <a:ext cx="54864" cy="2194560"/>
          </a:xfrm>
          <a:prstGeom prst="rect">
            <a:avLst/>
          </a:prstGeom>
          <a:solidFill>
            <a:srgbClr val="4F8EF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31720"/>
            <a:ext cx="27889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청년정책</a:t>
            </a:r>
            <a:r>
              <a:rPr lang="ko-KR" altLang="en-US" sz="12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취업과 주거</a:t>
            </a:r>
            <a:r>
              <a:rPr lang="en-US" sz="12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정보를</a:t>
            </a:r>
            <a:r>
              <a:rPr lang="en-US" sz="1200" dirty="0"/>
              <a:t> </a:t>
            </a:r>
            <a:r>
              <a:rPr lang="en-US" sz="12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</a:t>
            </a:r>
            <a:r>
              <a:rPr lang="en-US" sz="12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쉽게 접근할 수 있도록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기반 맞춤 안내 서비스를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구축합니다.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49040" y="320040"/>
            <a:ext cx="5120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94A3B8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749040" y="320040"/>
            <a:ext cx="64008" cy="1325880"/>
          </a:xfrm>
          <a:prstGeom prst="rect">
            <a:avLst/>
          </a:prstGeom>
          <a:solidFill>
            <a:srgbClr val="4F8EF7"/>
          </a:solidFill>
          <a:ln/>
        </p:spPr>
      </p:sp>
      <p:sp>
        <p:nvSpPr>
          <p:cNvPr id="9" name="Shape 7"/>
          <p:cNvSpPr/>
          <p:nvPr/>
        </p:nvSpPr>
        <p:spPr>
          <a:xfrm>
            <a:off x="3931920" y="640080"/>
            <a:ext cx="548640" cy="548640"/>
          </a:xfrm>
          <a:prstGeom prst="ellipse">
            <a:avLst/>
          </a:prstGeom>
          <a:solidFill>
            <a:srgbClr val="4F8EF7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713232"/>
            <a:ext cx="402336" cy="4023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663440" y="421877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인식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63440" y="80503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수백 개의 청년지원정책이 산재되어 있어 본인에게 맞는 정책을 찾기 어렵다.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749040" y="1874520"/>
            <a:ext cx="5120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94A3B8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749040" y="1874520"/>
            <a:ext cx="64008" cy="132588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5" name="Shape 12"/>
          <p:cNvSpPr/>
          <p:nvPr/>
        </p:nvSpPr>
        <p:spPr>
          <a:xfrm>
            <a:off x="3931920" y="2194560"/>
            <a:ext cx="548640" cy="548640"/>
          </a:xfrm>
          <a:prstGeom prst="ellipse">
            <a:avLst/>
          </a:prstGeom>
          <a:solidFill>
            <a:srgbClr val="7C5CFC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072" y="2267712"/>
            <a:ext cx="402336" cy="40233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63440" y="198532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63440" y="23415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질문 입력만으로 나이·지역·취업상태를 분석해 맞춤 정책을 추천한다.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781044" y="3268980"/>
            <a:ext cx="5120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94A3B8">
                <a:alpha val="1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749040" y="3429000"/>
            <a:ext cx="64008" cy="13258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1" name="Shape 17"/>
          <p:cNvSpPr/>
          <p:nvPr/>
        </p:nvSpPr>
        <p:spPr>
          <a:xfrm>
            <a:off x="3931920" y="3749040"/>
            <a:ext cx="548640" cy="54864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5072" y="3822192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663440" y="35218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466344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Text 14"/>
          <p:cNvSpPr/>
          <p:nvPr/>
        </p:nvSpPr>
        <p:spPr>
          <a:xfrm>
            <a:off x="4681373" y="3928333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 smtClean="0"/>
              <a:t>현재 시점</a:t>
            </a:r>
            <a:r>
              <a:rPr lang="en-US" altLang="ko-KR" sz="1200" dirty="0" smtClean="0"/>
              <a:t>: </a:t>
            </a:r>
            <a:r>
              <a:rPr lang="ko-KR" altLang="en-US" sz="1200" dirty="0" smtClean="0"/>
              <a:t>청년들에게 쉽게 와 닿도록 정책을 추천하는 것</a:t>
            </a:r>
            <a:r>
              <a:rPr lang="en-US" altLang="ko-KR" sz="1200" dirty="0" smtClean="0"/>
              <a:t/>
            </a:r>
            <a:br>
              <a:rPr lang="en-US" altLang="ko-KR" sz="1200" dirty="0" smtClean="0"/>
            </a:br>
            <a:r>
              <a:rPr lang="ko-KR" altLang="en-US" sz="1200" dirty="0" smtClean="0"/>
              <a:t>미래 시점</a:t>
            </a:r>
            <a:r>
              <a:rPr lang="en-US" altLang="ko-KR" sz="1200" dirty="0" smtClean="0"/>
              <a:t>: </a:t>
            </a:r>
            <a:r>
              <a:rPr lang="ko-KR" altLang="en-US" sz="1200" dirty="0" smtClean="0"/>
              <a:t>청년들과의 공감을 유도하여 보다 더 나은 정책이 추진되기 위한 기반의 데이터를 제공하는 것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4F8EF7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ea typeface="새굴림" panose="02030600000101010101" pitchFamily="18" charset="-127"/>
                <a:cs typeface="Calibri" pitchFamily="34" charset="-120"/>
              </a:rPr>
              <a:t>구성원 역할 분담</a:t>
            </a:r>
            <a:endParaRPr lang="en-US" sz="2800" dirty="0">
              <a:ea typeface="새굴림" panose="02030600000101010101" pitchFamily="18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1280160"/>
            <a:ext cx="1609344" cy="3566160"/>
          </a:xfrm>
          <a:prstGeom prst="rect">
            <a:avLst/>
          </a:prstGeom>
          <a:solidFill>
            <a:srgbClr val="FFFFFF">
              <a:alpha val="9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82880" y="1280160"/>
            <a:ext cx="1609344" cy="640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</p:sp>
      <p:sp>
        <p:nvSpPr>
          <p:cNvPr id="6" name="Shape 4"/>
          <p:cNvSpPr/>
          <p:nvPr/>
        </p:nvSpPr>
        <p:spPr>
          <a:xfrm>
            <a:off x="621792" y="1463040"/>
            <a:ext cx="731520" cy="7315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600" b="1" dirty="0" smtClean="0">
                <a:solidFill>
                  <a:srgbClr val="FFFFFF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Calibri" pitchFamily="34" charset="-120"/>
              </a:rPr>
              <a:t>김소현</a:t>
            </a:r>
            <a:endParaRPr lang="en-US" sz="16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6032" y="233172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정책 DB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" y="27432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policy_master.csv 설계 및 구축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3200400"/>
            <a:ext cx="1243584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3291840"/>
            <a:ext cx="1426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온통청년</a:t>
            </a:r>
            <a:r>
              <a:rPr 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등에서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다수의</a:t>
            </a:r>
            <a:r>
              <a:rPr 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정책 수집, 연령·지역·신청상태·카테고리 메타데이터 표준화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65376" y="1280160"/>
            <a:ext cx="1609344" cy="3566160"/>
          </a:xfrm>
          <a:prstGeom prst="rect">
            <a:avLst/>
          </a:prstGeom>
          <a:solidFill>
            <a:srgbClr val="FFFFFF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65376" y="1280160"/>
            <a:ext cx="1609344" cy="64008"/>
          </a:xfrm>
          <a:prstGeom prst="rect">
            <a:avLst/>
          </a:prstGeom>
          <a:solidFill>
            <a:srgbClr val="B14AB4"/>
          </a:solidFill>
          <a:ln/>
        </p:spPr>
      </p:sp>
      <p:sp>
        <p:nvSpPr>
          <p:cNvPr id="14" name="Shape 12"/>
          <p:cNvSpPr/>
          <p:nvPr/>
        </p:nvSpPr>
        <p:spPr>
          <a:xfrm>
            <a:off x="2304288" y="1463040"/>
            <a:ext cx="731520" cy="731520"/>
          </a:xfrm>
          <a:prstGeom prst="ellipse">
            <a:avLst/>
          </a:prstGeom>
          <a:solidFill>
            <a:srgbClr val="B14AB4"/>
          </a:solidFill>
          <a:ln/>
        </p:spPr>
      </p:sp>
      <p:sp>
        <p:nvSpPr>
          <p:cNvPr id="15" name="Text 13"/>
          <p:cNvSpPr/>
          <p:nvPr/>
        </p:nvSpPr>
        <p:spPr>
          <a:xfrm>
            <a:off x="2304288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600" b="1" dirty="0" err="1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김효균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38528" y="233172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청킹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38528" y="27432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공고문 PDF → 검색 chunk 변환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48256" y="3200400"/>
            <a:ext cx="1243584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56816" y="3291840"/>
            <a:ext cx="1426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공고문의 </a:t>
            </a:r>
            <a:r>
              <a:rPr 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r>
              <a:rPr lang="ko-KR" alt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및 비정형데이터</a:t>
            </a:r>
            <a:r>
              <a:rPr 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파싱, 지원 대상·신청 자격·유의사항 단위로 분할, 출처·정책ID </a:t>
            </a:r>
            <a:r>
              <a:rPr lang="en-US" sz="9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메타데이터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표준화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547872" y="1280160"/>
            <a:ext cx="1609344" cy="3566160"/>
          </a:xfrm>
          <a:prstGeom prst="rect">
            <a:avLst/>
          </a:prstGeom>
          <a:solidFill>
            <a:srgbClr val="FFFFF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47872" y="1280160"/>
            <a:ext cx="1609344" cy="64008"/>
          </a:xfrm>
          <a:prstGeom prst="rect">
            <a:avLst/>
          </a:prstGeom>
          <a:solidFill>
            <a:srgbClr val="D49B2A"/>
          </a:solidFill>
          <a:ln/>
        </p:spPr>
      </p:sp>
      <p:sp>
        <p:nvSpPr>
          <p:cNvPr id="22" name="Shape 20"/>
          <p:cNvSpPr/>
          <p:nvPr/>
        </p:nvSpPr>
        <p:spPr>
          <a:xfrm>
            <a:off x="3986784" y="1463040"/>
            <a:ext cx="731520" cy="731520"/>
          </a:xfrm>
          <a:prstGeom prst="ellipse">
            <a:avLst/>
          </a:prstGeom>
          <a:solidFill>
            <a:srgbClr val="D49B2A"/>
          </a:solidFill>
          <a:ln/>
        </p:spPr>
      </p:sp>
      <p:sp>
        <p:nvSpPr>
          <p:cNvPr id="23" name="Text 21"/>
          <p:cNvSpPr/>
          <p:nvPr/>
        </p:nvSpPr>
        <p:spPr>
          <a:xfrm>
            <a:off x="3986784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600" b="1" dirty="0" err="1" smtClean="0">
                <a:solidFill>
                  <a:srgbClr val="FFFFFF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Calibri" pitchFamily="34" charset="-120"/>
              </a:rPr>
              <a:t>오세덕</a:t>
            </a:r>
            <a:endParaRPr lang="en-US" sz="16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621024" y="233172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프로파일 파서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21024" y="27432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→ 구조화 JSON 변환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30752" y="3200400"/>
            <a:ext cx="1243584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39312" y="3291840"/>
            <a:ext cx="1426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사용자 문장에서 나이·지역·고용상태 추출, 자격 판정 규칙(가능/확인필요/불가) 로직 설계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230368" y="1280160"/>
            <a:ext cx="1609344" cy="3566160"/>
          </a:xfrm>
          <a:prstGeom prst="rect">
            <a:avLst/>
          </a:prstGeom>
          <a:solidFill>
            <a:srgbClr val="FFFFF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30368" y="1280160"/>
            <a:ext cx="1609344" cy="64008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0" y="1463040"/>
            <a:ext cx="731520" cy="731520"/>
          </a:xfrm>
          <a:prstGeom prst="ellipse">
            <a:avLst/>
          </a:prstGeom>
          <a:solidFill>
            <a:schemeClr val="accent5">
              <a:lumMod val="75000"/>
            </a:schemeClr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600" b="1" dirty="0" smtClean="0">
                <a:solidFill>
                  <a:srgbClr val="FFFFFF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Calibri" pitchFamily="34" charset="-120"/>
              </a:rPr>
              <a:t>김형진</a:t>
            </a:r>
            <a:endParaRPr lang="en-US" sz="16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303520" y="233172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검색·응답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03520" y="27432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파이프라인 및 응답 포맷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13248" y="3200400"/>
            <a:ext cx="1243584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21808" y="3291840"/>
            <a:ext cx="1426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BM25→Dense→Hybrid 검색, A/B/C 결과 통합해 추천이유·출처·다음액션 포함 최종 답변 생성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12864" y="1280160"/>
            <a:ext cx="1609344" cy="3566160"/>
          </a:xfrm>
          <a:prstGeom prst="rect">
            <a:avLst/>
          </a:prstGeom>
          <a:solidFill>
            <a:srgbClr val="FFFFFF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912864" y="1280160"/>
            <a:ext cx="1609344" cy="64008"/>
          </a:xfrm>
          <a:prstGeom prst="rect">
            <a:avLst/>
          </a:prstGeom>
          <a:solidFill>
            <a:srgbClr val="B94545"/>
          </a:solidFill>
          <a:ln/>
        </p:spPr>
      </p:sp>
      <p:sp>
        <p:nvSpPr>
          <p:cNvPr id="38" name="Shape 36"/>
          <p:cNvSpPr/>
          <p:nvPr/>
        </p:nvSpPr>
        <p:spPr>
          <a:xfrm>
            <a:off x="7351776" y="1463040"/>
            <a:ext cx="731520" cy="731520"/>
          </a:xfrm>
          <a:prstGeom prst="ellipse">
            <a:avLst/>
          </a:prstGeom>
          <a:solidFill>
            <a:srgbClr val="B94545"/>
          </a:solidFill>
          <a:ln/>
        </p:spPr>
      </p:sp>
      <p:sp>
        <p:nvSpPr>
          <p:cNvPr id="39" name="Text 37"/>
          <p:cNvSpPr/>
          <p:nvPr/>
        </p:nvSpPr>
        <p:spPr>
          <a:xfrm>
            <a:off x="7351776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 smtClean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김준서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86016" y="233172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986016" y="27432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서버 및 레이어 통합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95744" y="3200400"/>
            <a:ext cx="1243584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04304" y="3291840"/>
            <a:ext cx="1426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A/B/C/D 레이어를 연결하는 FastAPI 서버 구축, 엔드포인트 설계 및 금요일 통합 시연 총괄</a:t>
            </a:r>
            <a:endParaRPr lang="en-US" sz="950" dirty="0"/>
          </a:p>
        </p:txBody>
      </p:sp>
      <p:sp>
        <p:nvSpPr>
          <p:cNvPr id="45" name="TextBox 44"/>
          <p:cNvSpPr txBox="1"/>
          <p:nvPr/>
        </p:nvSpPr>
        <p:spPr>
          <a:xfrm>
            <a:off x="833377" y="2320145"/>
            <a:ext cx="347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A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2508002" y="2299454"/>
            <a:ext cx="347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4190498" y="2290251"/>
            <a:ext cx="347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</a:t>
            </a:r>
            <a:endParaRPr lang="ko-KR" altLang="en-US" dirty="0"/>
          </a:p>
        </p:txBody>
      </p:sp>
      <p:sp>
        <p:nvSpPr>
          <p:cNvPr id="48" name="TextBox 47"/>
          <p:cNvSpPr txBox="1"/>
          <p:nvPr/>
        </p:nvSpPr>
        <p:spPr>
          <a:xfrm>
            <a:off x="5872994" y="2292681"/>
            <a:ext cx="347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D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7347609" y="2318424"/>
            <a:ext cx="735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백엔드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구동 원리 및 전체 파이프라인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64592" y="1051560"/>
            <a:ext cx="1335024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4592" y="1051560"/>
            <a:ext cx="1335024" cy="54864"/>
          </a:xfrm>
          <a:prstGeom prst="rect">
            <a:avLst/>
          </a:prstGeom>
          <a:solidFill>
            <a:srgbClr val="4F8EF7"/>
          </a:solidFill>
          <a:ln/>
        </p:spPr>
      </p:sp>
      <p:sp>
        <p:nvSpPr>
          <p:cNvPr id="6" name="Text 4"/>
          <p:cNvSpPr/>
          <p:nvPr/>
        </p:nvSpPr>
        <p:spPr>
          <a:xfrm>
            <a:off x="237744" y="1161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84632" y="1252728"/>
            <a:ext cx="694944" cy="694944"/>
          </a:xfrm>
          <a:prstGeom prst="ellipse">
            <a:avLst/>
          </a:prstGeom>
          <a:solidFill>
            <a:srgbClr val="4F8EF7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353312"/>
            <a:ext cx="493776" cy="4937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9456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질문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19456" y="2532888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입력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536192" y="24231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00200" y="225856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609344" y="1051560"/>
            <a:ext cx="1335024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609344" y="1051560"/>
            <a:ext cx="1335024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1682496" y="1161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29384" y="1252728"/>
            <a:ext cx="694944" cy="694944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9968" y="1353312"/>
            <a:ext cx="493776" cy="49377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64208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레이어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664208" y="2532888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프로파일 파싱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 추출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2980944" y="24231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044952" y="225856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054096" y="1051560"/>
            <a:ext cx="1335024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054096" y="1051560"/>
            <a:ext cx="1335024" cy="54864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24" name="Text 20"/>
          <p:cNvSpPr/>
          <p:nvPr/>
        </p:nvSpPr>
        <p:spPr>
          <a:xfrm>
            <a:off x="3127248" y="1161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374136" y="1252728"/>
            <a:ext cx="694944" cy="694944"/>
          </a:xfrm>
          <a:prstGeom prst="ellipse">
            <a:avLst/>
          </a:prstGeom>
          <a:solidFill>
            <a:srgbClr val="7C5CFC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1353312"/>
            <a:ext cx="493776" cy="49377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3108960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레이어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3108960" y="2532888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정책 메타데이터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필터링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425696" y="24231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489704" y="225856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498848" y="1051560"/>
            <a:ext cx="1335024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498848" y="1051560"/>
            <a:ext cx="1335024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3" name="Text 28"/>
          <p:cNvSpPr/>
          <p:nvPr/>
        </p:nvSpPr>
        <p:spPr>
          <a:xfrm>
            <a:off x="4572000" y="1161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4818888" y="1252728"/>
            <a:ext cx="694944" cy="69494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1353312"/>
            <a:ext cx="493776" cy="49377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4553712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+ D 레이어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4553712" y="2532888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청크 검색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검색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5870448" y="24231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934456" y="225856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5943600" y="1051560"/>
            <a:ext cx="1335024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2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5943600" y="1051560"/>
            <a:ext cx="1335024" cy="5486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2" name="Text 36"/>
          <p:cNvSpPr/>
          <p:nvPr/>
        </p:nvSpPr>
        <p:spPr>
          <a:xfrm>
            <a:off x="6016752" y="1161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6263640" y="1252728"/>
            <a:ext cx="694944" cy="694944"/>
          </a:xfrm>
          <a:prstGeom prst="ellipse">
            <a:avLst/>
          </a:prstGeom>
          <a:solidFill>
            <a:srgbClr val="EC4899"/>
          </a:solidFill>
          <a:ln/>
        </p:spPr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1353312"/>
            <a:ext cx="493776" cy="49377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998464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레이어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5998464" y="2532888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자격 판정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생성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7315200" y="24231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7379208" y="2258568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7388352" y="1051560"/>
            <a:ext cx="1335024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2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7388352" y="1051560"/>
            <a:ext cx="1335024" cy="54864"/>
          </a:xfrm>
          <a:prstGeom prst="rect">
            <a:avLst/>
          </a:prstGeom>
          <a:solidFill>
            <a:srgbClr val="4F8EF7"/>
          </a:solidFill>
          <a:ln/>
        </p:spPr>
      </p:sp>
      <p:sp>
        <p:nvSpPr>
          <p:cNvPr id="51" name="Text 44"/>
          <p:cNvSpPr/>
          <p:nvPr/>
        </p:nvSpPr>
        <p:spPr>
          <a:xfrm>
            <a:off x="7461504" y="1161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708392" y="1252728"/>
            <a:ext cx="694944" cy="694944"/>
          </a:xfrm>
          <a:prstGeom prst="ellipse">
            <a:avLst/>
          </a:prstGeom>
          <a:solidFill>
            <a:srgbClr val="4F8EF7"/>
          </a:solidFill>
          <a:ln/>
        </p:spPr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8976" y="1353312"/>
            <a:ext cx="493776" cy="493776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7443216" y="2057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응답</a:t>
            </a:r>
            <a:endParaRPr lang="en-US" sz="1200" dirty="0"/>
          </a:p>
        </p:txBody>
      </p:sp>
      <p:sp>
        <p:nvSpPr>
          <p:cNvPr id="55" name="Text 47"/>
          <p:cNvSpPr/>
          <p:nvPr/>
        </p:nvSpPr>
        <p:spPr>
          <a:xfrm>
            <a:off x="7443216" y="2532888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정책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출처·사유 포함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28600" y="4709160"/>
            <a:ext cx="8686800" cy="301752"/>
          </a:xfrm>
          <a:prstGeom prst="rect">
            <a:avLst/>
          </a:prstGeom>
          <a:solidFill>
            <a:srgbClr val="F1F5FE"/>
          </a:solidFill>
          <a:ln/>
        </p:spPr>
      </p:sp>
      <p:sp>
        <p:nvSpPr>
          <p:cNvPr id="57" name="Text 49"/>
          <p:cNvSpPr/>
          <p:nvPr/>
        </p:nvSpPr>
        <p:spPr>
          <a:xfrm>
            <a:off x="365760" y="47274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파이프라인 시각화 자료(다이어그램)는 이 슬라이드에 직접 삽입 예정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주요 기능 &amp; 차별성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4F8EF7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868680"/>
            <a:ext cx="4114800" cy="18288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868680"/>
            <a:ext cx="4114800" cy="54864"/>
          </a:xfrm>
          <a:prstGeom prst="rect">
            <a:avLst/>
          </a:prstGeom>
          <a:solidFill>
            <a:srgbClr val="4F8EF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33272"/>
            <a:ext cx="548640" cy="548640"/>
          </a:xfrm>
          <a:prstGeom prst="ellipse">
            <a:avLst/>
          </a:prstGeom>
          <a:solidFill>
            <a:srgbClr val="4F8EF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106424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0332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맞춤형 자격 판정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158191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사용자의 나이·지역·고용상태 등을 자동 추출해 가능 / 확인 필요 / 불가 3단계로 판정. 모르는 조건은 추정하지 않고 안전하게 처리.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350008"/>
            <a:ext cx="3840480" cy="246888"/>
          </a:xfrm>
          <a:prstGeom prst="rect">
            <a:avLst/>
          </a:prstGeom>
          <a:solidFill>
            <a:srgbClr val="4F8EF7">
              <a:alpha val="1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35915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단순 키워드 검색이 아닌 구조화된 조건 매칭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54880" y="868680"/>
            <a:ext cx="4114800" cy="18288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4754880" y="868680"/>
            <a:ext cx="4114800" cy="54864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4" name="Shape 11"/>
          <p:cNvSpPr/>
          <p:nvPr/>
        </p:nvSpPr>
        <p:spPr>
          <a:xfrm>
            <a:off x="4892040" y="1033272"/>
            <a:ext cx="548640" cy="548640"/>
          </a:xfrm>
          <a:prstGeom prst="ellipse">
            <a:avLst/>
          </a:prstGeom>
          <a:solidFill>
            <a:srgbClr val="7C5CF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1106424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59552" y="10332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검색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92040" y="158191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키워드 검색과 Dense 임베딩 검색을 결합한 하이브리드 방식으로 표현이 달라도 관련 정책을 정확하게 탐색.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892040" y="2350008"/>
            <a:ext cx="3840480" cy="246888"/>
          </a:xfrm>
          <a:prstGeom prst="rect">
            <a:avLst/>
          </a:prstGeom>
          <a:solidFill>
            <a:srgbClr val="7C5CFC">
              <a:alpha val="15000"/>
            </a:srgbClr>
          </a:solidFill>
          <a:ln/>
        </p:spPr>
      </p:sp>
      <p:sp>
        <p:nvSpPr>
          <p:cNvPr id="19" name="Text 15"/>
          <p:cNvSpPr/>
          <p:nvPr/>
        </p:nvSpPr>
        <p:spPr>
          <a:xfrm>
            <a:off x="4937760" y="235915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검색 커버리지와 정확도 동시 확보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20040" y="2880360"/>
            <a:ext cx="4114800" cy="18288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320040" y="2880360"/>
            <a:ext cx="4114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Shape 18"/>
          <p:cNvSpPr/>
          <p:nvPr/>
        </p:nvSpPr>
        <p:spPr>
          <a:xfrm>
            <a:off x="457200" y="3044952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118104"/>
            <a:ext cx="402336" cy="40233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304495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기반 응답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457200" y="359359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이유, 공고문 출처 URL, 추가 확인 필요 사항을 함께 제공. 챗봇이 임의로 내용을 만들지 않고 원문 chunk만 활용.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457200" y="4361688"/>
            <a:ext cx="3840480" cy="246888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27" name="Text 22"/>
          <p:cNvSpPr/>
          <p:nvPr/>
        </p:nvSpPr>
        <p:spPr>
          <a:xfrm>
            <a:off x="502920" y="437083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할루시네이션 최소화, 신뢰도 극대화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4754880" y="2880360"/>
            <a:ext cx="4114800" cy="18288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sp>
        <p:nvSpPr>
          <p:cNvPr id="29" name="Shape 24"/>
          <p:cNvSpPr/>
          <p:nvPr/>
        </p:nvSpPr>
        <p:spPr>
          <a:xfrm>
            <a:off x="4754880" y="2880360"/>
            <a:ext cx="41148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0" name="Shape 25"/>
          <p:cNvSpPr/>
          <p:nvPr/>
        </p:nvSpPr>
        <p:spPr>
          <a:xfrm>
            <a:off x="4892040" y="3044952"/>
            <a:ext cx="548640" cy="54864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3118104"/>
            <a:ext cx="402336" cy="40233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559552" y="304495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4-레이어 모듈 구조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892040" y="359359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A(정책DB) · B(청킹) · C(파서) · D(검색·응답)가 독립적으로 개발·교체 가능. 정책 추가 시 A·B만 업데이트하면 전체 반영.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4892040" y="4361688"/>
            <a:ext cx="3840480" cy="246888"/>
          </a:xfrm>
          <a:prstGeom prst="rect">
            <a:avLst/>
          </a:prstGeom>
          <a:solidFill>
            <a:srgbClr val="2DD4BF">
              <a:alpha val="15000"/>
            </a:srgbClr>
          </a:solidFill>
          <a:ln/>
        </p:spPr>
      </p:sp>
      <p:sp>
        <p:nvSpPr>
          <p:cNvPr id="35" name="Text 29"/>
          <p:cNvSpPr/>
          <p:nvPr/>
        </p:nvSpPr>
        <p:spPr>
          <a:xfrm>
            <a:off x="4937760" y="437083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&gt;&gt; 유지보수·확장이 쉬운 아키텍처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2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F8EF7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5760" y="62179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시연 영상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1234440"/>
            <a:ext cx="6949440" cy="3291840"/>
          </a:xfrm>
          <a:prstGeom prst="rect">
            <a:avLst/>
          </a:prstGeom>
          <a:solidFill>
            <a:srgbClr val="111827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023360" y="2331720"/>
            <a:ext cx="1097280" cy="1097280"/>
          </a:xfrm>
          <a:prstGeom prst="ellipse">
            <a:avLst/>
          </a:prstGeom>
          <a:solidFill>
            <a:srgbClr val="4F8EF7">
              <a:alpha val="80000"/>
            </a:srgbClr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487168"/>
            <a:ext cx="731520" cy="7315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137160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시연 영상 삽입 ]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97280" y="42519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영역에 실제 구동 영상을 삽입해주세요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구성원 업그레이드 자랑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9728" y="822960"/>
            <a:ext cx="1737360" cy="42062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" y="822960"/>
            <a:ext cx="1737360" cy="10515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987552"/>
            <a:ext cx="585216" cy="585216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06070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" y="1627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9808" y="1938528"/>
            <a:ext cx="457200" cy="228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938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 smtClean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김소현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246888" y="2267712"/>
            <a:ext cx="1463040" cy="0"/>
          </a:xfrm>
          <a:prstGeom prst="line">
            <a:avLst/>
          </a:prstGeom>
          <a:noFill/>
          <a:ln w="10160">
            <a:solidFill>
              <a:srgbClr val="4F8EF7">
                <a:alpha val="3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01168" y="2359152"/>
            <a:ext cx="1554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여기에 업그레이드 내용을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작성해 주세요.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개선한 기능, 성능 향상,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추가한 로직 등을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자유롭게 적어주세요.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920240" y="731520"/>
            <a:ext cx="1737360" cy="42062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920240" y="822960"/>
            <a:ext cx="1737360" cy="1051560"/>
          </a:xfrm>
          <a:prstGeom prst="rect">
            <a:avLst/>
          </a:prstGeom>
          <a:solidFill>
            <a:srgbClr val="B14AB4"/>
          </a:solidFill>
          <a:ln/>
        </p:spPr>
      </p:sp>
      <p:sp>
        <p:nvSpPr>
          <p:cNvPr id="15" name="Shape 12"/>
          <p:cNvSpPr/>
          <p:nvPr/>
        </p:nvSpPr>
        <p:spPr>
          <a:xfrm>
            <a:off x="2496312" y="987552"/>
            <a:ext cx="585216" cy="585216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1060704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75104" y="1627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560320" y="1938528"/>
            <a:ext cx="457200" cy="228600"/>
          </a:xfrm>
          <a:prstGeom prst="rect">
            <a:avLst/>
          </a:prstGeom>
          <a:solidFill>
            <a:srgbClr val="B14AB4"/>
          </a:solidFill>
          <a:ln/>
        </p:spPr>
      </p:sp>
      <p:sp>
        <p:nvSpPr>
          <p:cNvPr id="19" name="Text 15"/>
          <p:cNvSpPr/>
          <p:nvPr/>
        </p:nvSpPr>
        <p:spPr>
          <a:xfrm>
            <a:off x="2560320" y="1938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 err="1" smtClean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김효균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0" name="Shape 16"/>
          <p:cNvSpPr/>
          <p:nvPr/>
        </p:nvSpPr>
        <p:spPr>
          <a:xfrm>
            <a:off x="2057400" y="2267712"/>
            <a:ext cx="1463040" cy="0"/>
          </a:xfrm>
          <a:prstGeom prst="line">
            <a:avLst/>
          </a:prstGeom>
          <a:noFill/>
          <a:ln w="10160">
            <a:solidFill>
              <a:srgbClr val="7C5CFC">
                <a:alpha val="30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011680" y="2359152"/>
            <a:ext cx="1554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여기에 업그레이드 내용을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작성해 주세요.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개선한 기능, 성능 향상,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추가한 로직 등을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자유롭게 적어주세요.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730752" y="822960"/>
            <a:ext cx="1737360" cy="42062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730752" y="822960"/>
            <a:ext cx="1737360" cy="1051560"/>
          </a:xfrm>
          <a:prstGeom prst="rect">
            <a:avLst/>
          </a:prstGeom>
          <a:solidFill>
            <a:srgbClr val="D49B2A"/>
          </a:solidFill>
          <a:ln/>
        </p:spPr>
      </p:sp>
      <p:sp>
        <p:nvSpPr>
          <p:cNvPr id="24" name="Shape 20"/>
          <p:cNvSpPr/>
          <p:nvPr/>
        </p:nvSpPr>
        <p:spPr>
          <a:xfrm>
            <a:off x="4306824" y="987552"/>
            <a:ext cx="585216" cy="585216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976" y="1060704"/>
            <a:ext cx="438912" cy="43891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785616" y="1627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70832" y="1938528"/>
            <a:ext cx="457200" cy="228600"/>
          </a:xfrm>
          <a:prstGeom prst="rect">
            <a:avLst/>
          </a:prstGeom>
          <a:solidFill>
            <a:srgbClr val="D49B2A"/>
          </a:solidFill>
          <a:ln/>
        </p:spPr>
      </p:sp>
      <p:sp>
        <p:nvSpPr>
          <p:cNvPr id="28" name="Text 23"/>
          <p:cNvSpPr/>
          <p:nvPr/>
        </p:nvSpPr>
        <p:spPr>
          <a:xfrm>
            <a:off x="4370832" y="1938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 err="1" smtClean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오세덕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9" name="Shape 24"/>
          <p:cNvSpPr/>
          <p:nvPr/>
        </p:nvSpPr>
        <p:spPr>
          <a:xfrm>
            <a:off x="3867912" y="2267712"/>
            <a:ext cx="1463040" cy="0"/>
          </a:xfrm>
          <a:prstGeom prst="line">
            <a:avLst/>
          </a:prstGeom>
          <a:noFill/>
          <a:ln w="1016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822192" y="2359152"/>
            <a:ext cx="1554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여기에 업그레이드 내용을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작성해 주세요.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개선한 기능, 성능 향상,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추가한 로직 등을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자유롭게 적어주세요.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5541264" y="822960"/>
            <a:ext cx="1737360" cy="42062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5541264" y="822960"/>
            <a:ext cx="1737360" cy="105156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33" name="Shape 28"/>
          <p:cNvSpPr/>
          <p:nvPr/>
        </p:nvSpPr>
        <p:spPr>
          <a:xfrm>
            <a:off x="6117336" y="987552"/>
            <a:ext cx="585216" cy="585216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060704"/>
            <a:ext cx="438912" cy="43891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596128" y="1627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181344" y="1938528"/>
            <a:ext cx="457200" cy="22860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37" name="Text 31"/>
          <p:cNvSpPr/>
          <p:nvPr/>
        </p:nvSpPr>
        <p:spPr>
          <a:xfrm>
            <a:off x="6181344" y="1938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 smtClean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김형진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8" name="Shape 32"/>
          <p:cNvSpPr/>
          <p:nvPr/>
        </p:nvSpPr>
        <p:spPr>
          <a:xfrm>
            <a:off x="5678424" y="2267712"/>
            <a:ext cx="1463040" cy="0"/>
          </a:xfrm>
          <a:prstGeom prst="line">
            <a:avLst/>
          </a:prstGeom>
          <a:noFill/>
          <a:ln w="10160">
            <a:solidFill>
              <a:srgbClr val="2DD4BF">
                <a:alpha val="30000"/>
              </a:srgbClr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632704" y="2359152"/>
            <a:ext cx="1554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여기에 업그레이드 내용을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작성해 주세요.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개선한 기능, 성능 향상,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추가한 로직 등을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자유롭게 적어주세요.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7351776" y="822960"/>
            <a:ext cx="1737360" cy="42062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94A3B8">
                <a:alpha val="10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7351776" y="822960"/>
            <a:ext cx="1737360" cy="1051560"/>
          </a:xfrm>
          <a:prstGeom prst="rect">
            <a:avLst/>
          </a:prstGeom>
          <a:solidFill>
            <a:srgbClr val="B94545"/>
          </a:solidFill>
          <a:ln/>
        </p:spPr>
      </p:sp>
      <p:sp>
        <p:nvSpPr>
          <p:cNvPr id="42" name="Shape 36"/>
          <p:cNvSpPr/>
          <p:nvPr/>
        </p:nvSpPr>
        <p:spPr>
          <a:xfrm>
            <a:off x="7927848" y="987552"/>
            <a:ext cx="585216" cy="585216"/>
          </a:xfrm>
          <a:prstGeom prst="ellipse">
            <a:avLst/>
          </a:prstGeom>
          <a:solidFill>
            <a:srgbClr val="FFFFFF">
              <a:alpha val="75000"/>
            </a:srgbClr>
          </a:solidFill>
          <a:ln/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1060704"/>
            <a:ext cx="438912" cy="438912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7406640" y="162763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7991856" y="1938528"/>
            <a:ext cx="457200" cy="228600"/>
          </a:xfrm>
          <a:prstGeom prst="rect">
            <a:avLst/>
          </a:prstGeom>
          <a:solidFill>
            <a:srgbClr val="B94545"/>
          </a:solidFill>
          <a:ln/>
        </p:spPr>
      </p:sp>
      <p:sp>
        <p:nvSpPr>
          <p:cNvPr id="46" name="Text 39"/>
          <p:cNvSpPr/>
          <p:nvPr/>
        </p:nvSpPr>
        <p:spPr>
          <a:xfrm>
            <a:off x="7991856" y="1938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 smtClean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김준서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7" name="Shape 40"/>
          <p:cNvSpPr/>
          <p:nvPr/>
        </p:nvSpPr>
        <p:spPr>
          <a:xfrm>
            <a:off x="7488936" y="2267712"/>
            <a:ext cx="1463040" cy="0"/>
          </a:xfrm>
          <a:prstGeom prst="line">
            <a:avLst/>
          </a:prstGeom>
          <a:noFill/>
          <a:ln w="1016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7443216" y="2359152"/>
            <a:ext cx="155448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여기에 업그레이드 내용을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작성해 주세요.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개선한 기능, 성능 향상,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추가한 로직 등을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자유롭게 적어주세요.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580</Words>
  <Application>Microsoft Office PowerPoint</Application>
  <PresentationFormat>화면 슬라이드 쇼(16:9)</PresentationFormat>
  <Paragraphs>144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맑은 고딕</vt:lpstr>
      <vt:lpstr>새굴림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Youth-Sync</dc:title>
  <dc:subject>PptxGenJS Presentation</dc:subject>
  <dc:creator>PptxGenJS</dc:creator>
  <cp:lastModifiedBy>ji</cp:lastModifiedBy>
  <cp:revision>7</cp:revision>
  <dcterms:created xsi:type="dcterms:W3CDTF">2026-04-24T02:20:18Z</dcterms:created>
  <dcterms:modified xsi:type="dcterms:W3CDTF">2026-04-24T03:06:31Z</dcterms:modified>
</cp:coreProperties>
</file>