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4545"/>
    <a:srgbClr val="D49B2A"/>
    <a:srgbClr val="B14AB4"/>
    <a:srgbClr val="BA4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383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grpSp>
        <p:nvGrpSpPr>
          <p:cNvPr id="31" name="그룹 30"/>
          <p:cNvGrpSpPr/>
          <p:nvPr/>
        </p:nvGrpSpPr>
        <p:grpSpPr>
          <a:xfrm>
            <a:off x="3998256" y="725248"/>
            <a:ext cx="1143000" cy="1143000"/>
            <a:chOff x="4114800" y="411480"/>
            <a:chExt cx="1143000" cy="1143000"/>
          </a:xfrm>
        </p:grpSpPr>
        <p:sp>
          <p:nvSpPr>
            <p:cNvPr id="15" name="Shape 13"/>
            <p:cNvSpPr/>
            <p:nvPr/>
          </p:nvSpPr>
          <p:spPr>
            <a:xfrm>
              <a:off x="4114800" y="411480"/>
              <a:ext cx="1143000" cy="1143000"/>
            </a:xfrm>
            <a:prstGeom prst="ellipse">
              <a:avLst/>
            </a:prstGeom>
            <a:solidFill>
              <a:srgbClr val="4F8EF7">
                <a:alpha val="25000"/>
              </a:srgbClr>
            </a:solidFill>
            <a:ln/>
          </p:spPr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9120" y="626006"/>
              <a:ext cx="594360" cy="594360"/>
            </a:xfrm>
            <a:prstGeom prst="rect">
              <a:avLst/>
            </a:prstGeom>
          </p:spPr>
        </p:pic>
      </p:grpSp>
      <p:sp>
        <p:nvSpPr>
          <p:cNvPr id="17" name="Text 14"/>
          <p:cNvSpPr/>
          <p:nvPr/>
        </p:nvSpPr>
        <p:spPr>
          <a:xfrm>
            <a:off x="0" y="367553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SERVICE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8239" y="163153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Youth-Sync</a:t>
            </a:r>
            <a:endParaRPr lang="en-US" sz="7200" dirty="0"/>
          </a:p>
        </p:txBody>
      </p:sp>
      <p:sp>
        <p:nvSpPr>
          <p:cNvPr id="19" name="Shape 16"/>
          <p:cNvSpPr/>
          <p:nvPr/>
        </p:nvSpPr>
        <p:spPr>
          <a:xfrm>
            <a:off x="2935045" y="2708238"/>
            <a:ext cx="3291840" cy="54864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89111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청년지원정책 AI 챗봇 서비스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371600" y="4160520"/>
            <a:ext cx="19202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371600" y="4233135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김형진</a:t>
            </a:r>
            <a:r>
              <a:rPr lang="en-US" altLang="ko-KR" sz="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800" b="1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오세덕</a:t>
            </a:r>
            <a:r>
              <a:rPr lang="en-US" altLang="ko-KR" sz="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김소현</a:t>
            </a:r>
            <a:r>
              <a:rPr lang="en-US" altLang="ko-KR" sz="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800" b="1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김효균</a:t>
            </a:r>
            <a:r>
              <a:rPr lang="en-US" altLang="ko-KR" sz="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김준서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371600" y="453435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840480" y="4160520"/>
            <a:ext cx="19202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84048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2026.04.17~2026.05.07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840480" y="456124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09360" y="4160520"/>
            <a:ext cx="19202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4251065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프로젝트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09360" y="4561245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F8EF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목표와 의도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2286000"/>
            <a:ext cx="54864" cy="21945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3172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</a:t>
            </a:r>
            <a:r>
              <a:rPr lang="ko-KR" alt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하고 흩어져 있는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청년정책</a:t>
            </a:r>
            <a:r>
              <a:rPr lang="ko-KR" alt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취업과 주거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통합하여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접근할 수 있도록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맞춤 안내 서비스를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구축합니다.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749040" y="320040"/>
            <a:ext cx="5120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49040" y="320040"/>
            <a:ext cx="64008" cy="132588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640080"/>
            <a:ext cx="548640" cy="548640"/>
          </a:xfrm>
          <a:prstGeom prst="ellipse">
            <a:avLst/>
          </a:prstGeom>
          <a:solidFill>
            <a:srgbClr val="4F8EF7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7132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63440" y="421877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인식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80503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수백 개의 청년지원정책이 산재되어 있어 본인에게 맞는 정책을 찾기 어렵다.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1874520"/>
            <a:ext cx="5120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49040" y="1874520"/>
            <a:ext cx="64008" cy="132588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5" name="Shape 12"/>
          <p:cNvSpPr/>
          <p:nvPr/>
        </p:nvSpPr>
        <p:spPr>
          <a:xfrm>
            <a:off x="3931920" y="2194560"/>
            <a:ext cx="548640" cy="54864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26771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63440" y="198532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방안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63440" y="23415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질문 입력만으로 나이·지역·취업상태를 분석해 맞춤 정책을 추천한다.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781044" y="3268980"/>
            <a:ext cx="5120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49040" y="3429000"/>
            <a:ext cx="64008" cy="13258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7"/>
          <p:cNvSpPr/>
          <p:nvPr/>
        </p:nvSpPr>
        <p:spPr>
          <a:xfrm>
            <a:off x="3931920" y="37490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382219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35218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663440" y="3931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4681373" y="3928333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200" dirty="0" smtClean="0"/>
              <a:t>현재 시점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청년들에게 쉽게 와 닿도록 정책을 추천하는 것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미래 시점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청년들과의 공감을 유도하여 보다 더 나은 정책이 추진되기 위한 기반의 데이터를 제공하는 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8EF7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ea typeface="새굴림" panose="02030600000101010101" pitchFamily="18" charset="-127"/>
                <a:cs typeface="Calibri" pitchFamily="34" charset="-120"/>
              </a:rPr>
              <a:t>구성원 역할 분담</a:t>
            </a:r>
            <a:endParaRPr lang="en-US" sz="2800" dirty="0">
              <a:ea typeface="새굴림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1280160"/>
            <a:ext cx="1609344" cy="35661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280160"/>
            <a:ext cx="1609344" cy="64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463040"/>
            <a:ext cx="731520" cy="7315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 smtClean="0">
                <a:solidFill>
                  <a:srgbClr val="FFFFFF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Calibri" pitchFamily="34" charset="-120"/>
              </a:rPr>
              <a:t>김소현</a:t>
            </a:r>
            <a:endParaRPr lang="en-US" sz="16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" y="2331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27432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policy_master.csv 설계 및 구축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1243584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9184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온통청년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등에서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다수의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정책 수집, 연령·지역·신청상태·카테고리 메타데이터 표준화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65376" y="1280160"/>
            <a:ext cx="1609344" cy="35661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65376" y="1280160"/>
            <a:ext cx="1609344" cy="64008"/>
          </a:xfrm>
          <a:prstGeom prst="rect">
            <a:avLst/>
          </a:prstGeom>
          <a:solidFill>
            <a:srgbClr val="B14AB4"/>
          </a:solidFill>
          <a:ln/>
        </p:spPr>
      </p:sp>
      <p:sp>
        <p:nvSpPr>
          <p:cNvPr id="14" name="Shape 12"/>
          <p:cNvSpPr/>
          <p:nvPr/>
        </p:nvSpPr>
        <p:spPr>
          <a:xfrm>
            <a:off x="2304288" y="1463040"/>
            <a:ext cx="731520" cy="731520"/>
          </a:xfrm>
          <a:prstGeom prst="ellipse">
            <a:avLst/>
          </a:prstGeom>
          <a:solidFill>
            <a:srgbClr val="B14AB4"/>
          </a:solidFill>
          <a:ln/>
        </p:spPr>
      </p:sp>
      <p:sp>
        <p:nvSpPr>
          <p:cNvPr id="15" name="Text 13"/>
          <p:cNvSpPr/>
          <p:nvPr/>
        </p:nvSpPr>
        <p:spPr>
          <a:xfrm>
            <a:off x="2304288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김효균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8528" y="2331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청킹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38528" y="27432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공고문 PDF → 검색 chunk 변환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48256" y="3200400"/>
            <a:ext cx="1243584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329184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공고문의 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r>
              <a:rPr lang="ko-KR" alt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및 비정형데이터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파싱, 지원 대상·신청 자격·유의사항 단위로 분할, 출처·정책ID </a:t>
            </a:r>
            <a:r>
              <a:rPr lang="en-US" sz="9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표준화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47872" y="1280160"/>
            <a:ext cx="1609344" cy="35661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47872" y="1280160"/>
            <a:ext cx="1609344" cy="64008"/>
          </a:xfrm>
          <a:prstGeom prst="rect">
            <a:avLst/>
          </a:prstGeom>
          <a:solidFill>
            <a:srgbClr val="D49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3986784" y="1463040"/>
            <a:ext cx="731520" cy="731520"/>
          </a:xfrm>
          <a:prstGeom prst="ellipse">
            <a:avLst/>
          </a:prstGeom>
          <a:solidFill>
            <a:srgbClr val="D49B2A"/>
          </a:solidFill>
          <a:ln/>
        </p:spPr>
      </p:sp>
      <p:sp>
        <p:nvSpPr>
          <p:cNvPr id="23" name="Text 21"/>
          <p:cNvSpPr/>
          <p:nvPr/>
        </p:nvSpPr>
        <p:spPr>
          <a:xfrm>
            <a:off x="3986784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 err="1" smtClean="0">
                <a:solidFill>
                  <a:srgbClr val="FFFFFF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Calibri" pitchFamily="34" charset="-120"/>
              </a:rPr>
              <a:t>오세덕</a:t>
            </a:r>
            <a:endParaRPr lang="en-US" sz="16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21024" y="2331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프로파일 파서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21024" y="27432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→ 구조화 JSON 변환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30752" y="3200400"/>
            <a:ext cx="1243584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329184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문장에서 나이·지역·고용상태 추출, 자격 판정 규칙(가능/확인필요/불가) 로직 설계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30368" y="1280160"/>
            <a:ext cx="1609344" cy="35661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30368" y="1280160"/>
            <a:ext cx="1609344" cy="6400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0" y="1463040"/>
            <a:ext cx="731520" cy="731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 smtClean="0">
                <a:solidFill>
                  <a:srgbClr val="FFFFFF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Calibri" pitchFamily="34" charset="-120"/>
              </a:rPr>
              <a:t>김형진</a:t>
            </a:r>
            <a:endParaRPr lang="en-US" sz="16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03520" y="2331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검색·응답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7432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 및 응답 포맷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13248" y="3200400"/>
            <a:ext cx="1243584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329184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BM25→Dense→Hybrid 검색, A/B/C 결과 통합해 추천이유·출처·다음액션 포함 최종 답변 생성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12864" y="1280160"/>
            <a:ext cx="1609344" cy="35661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912864" y="1280160"/>
            <a:ext cx="1609344" cy="64008"/>
          </a:xfrm>
          <a:prstGeom prst="rect">
            <a:avLst/>
          </a:prstGeom>
          <a:solidFill>
            <a:srgbClr val="B94545"/>
          </a:solidFill>
          <a:ln/>
        </p:spPr>
      </p:sp>
      <p:sp>
        <p:nvSpPr>
          <p:cNvPr id="38" name="Shape 36"/>
          <p:cNvSpPr/>
          <p:nvPr/>
        </p:nvSpPr>
        <p:spPr>
          <a:xfrm>
            <a:off x="7336034" y="1646373"/>
            <a:ext cx="731520" cy="731520"/>
          </a:xfrm>
          <a:prstGeom prst="ellipse">
            <a:avLst/>
          </a:prstGeom>
          <a:solidFill>
            <a:srgbClr val="B94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336034" y="1644849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86016" y="27432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서버 및 레이어 통합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95744" y="3200400"/>
            <a:ext cx="1243584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04304" y="329184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ko-KR" alt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세션 </a:t>
            </a:r>
            <a:r>
              <a:rPr lang="ko-KR" alt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기반 상태 관리 및 </a:t>
            </a:r>
            <a:r>
              <a:rPr lang="en-US" altLang="ko-KR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r>
              <a:rPr lang="ko-KR" alt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</a:t>
            </a:r>
            <a:r>
              <a:rPr lang="ko-KR" alt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altLang="ko-KR" sz="950" dirty="0" smtClean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en-US" sz="950" dirty="0" err="1" smtClean="0">
                <a:latin typeface="Calibri" pitchFamily="34" charset="0"/>
                <a:cs typeface="Calibri" pitchFamily="34" charset="-120"/>
              </a:rPr>
              <a:t>FastAPI</a:t>
            </a:r>
            <a:r>
              <a:rPr lang="en-US" sz="950" dirty="0" smtClean="0"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950" dirty="0" smtClean="0">
                <a:latin typeface="Calibri" pitchFamily="34" charset="0"/>
                <a:cs typeface="Calibri" pitchFamily="34" charset="-120"/>
              </a:rPr>
              <a:t>서버 구축 및 </a:t>
            </a:r>
            <a:r>
              <a:rPr lang="en-US" altLang="ko-KR" sz="950" dirty="0" err="1" smtClean="0">
                <a:latin typeface="Calibri" pitchFamily="34" charset="0"/>
                <a:cs typeface="Calibri" pitchFamily="34" charset="-120"/>
              </a:rPr>
              <a:t>Redis</a:t>
            </a:r>
            <a:r>
              <a:rPr lang="en-US" altLang="ko-KR" sz="950" dirty="0" smtClean="0"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950" dirty="0" smtClean="0">
                <a:latin typeface="Calibri" pitchFamily="34" charset="0"/>
                <a:cs typeface="Calibri" pitchFamily="34" charset="-120"/>
              </a:rPr>
              <a:t>기반 세션 관리 구현</a:t>
            </a:r>
            <a:endParaRPr lang="en-US" altLang="ko-KR" sz="950" dirty="0" smtClean="0">
              <a:latin typeface="Calibri" pitchFamily="34" charset="0"/>
              <a:cs typeface="Calibri" pitchFamily="34" charset="-120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en-US" sz="950" dirty="0" smtClean="0"/>
              <a:t>AI </a:t>
            </a:r>
            <a:r>
              <a:rPr lang="ko-KR" altLang="en-US" sz="950" dirty="0" smtClean="0"/>
              <a:t>모듈 </a:t>
            </a:r>
            <a:r>
              <a:rPr lang="en-US" altLang="ko-KR" sz="950" dirty="0" smtClean="0"/>
              <a:t>(</a:t>
            </a:r>
            <a:r>
              <a:rPr lang="en-US" altLang="ko-KR" sz="950" dirty="0" smtClean="0"/>
              <a:t>A/B/C/D) </a:t>
            </a:r>
            <a:r>
              <a:rPr lang="ko-KR" altLang="en-US" sz="950" dirty="0" smtClean="0"/>
              <a:t>통합 및 데이터 흐름 구현</a:t>
            </a:r>
            <a:endParaRPr lang="en-US" sz="950" dirty="0"/>
          </a:p>
        </p:txBody>
      </p:sp>
      <p:sp>
        <p:nvSpPr>
          <p:cNvPr id="45" name="TextBox 44"/>
          <p:cNvSpPr txBox="1"/>
          <p:nvPr/>
        </p:nvSpPr>
        <p:spPr>
          <a:xfrm>
            <a:off x="833377" y="2320145"/>
            <a:ext cx="34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508002" y="2299454"/>
            <a:ext cx="34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190498" y="2290251"/>
            <a:ext cx="34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</a:t>
            </a:r>
            <a:endParaRPr lang="ko-KR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5872994" y="2292681"/>
            <a:ext cx="34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구동 원리 및 전체 파이프라인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1051560"/>
            <a:ext cx="1335024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1051560"/>
            <a:ext cx="1335024" cy="54864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" y="1252728"/>
            <a:ext cx="694944" cy="694944"/>
          </a:xfrm>
          <a:prstGeom prst="ellipse">
            <a:avLst/>
          </a:prstGeom>
          <a:solidFill>
            <a:srgbClr val="4F8EF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5331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" y="2057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" y="253288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입력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36192" y="24231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2585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609344" y="1051560"/>
            <a:ext cx="1335024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609344" y="1051560"/>
            <a:ext cx="133502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682496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929384" y="1252728"/>
            <a:ext cx="694944" cy="69494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1353312"/>
            <a:ext cx="493776" cy="4937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64208" y="2057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레이어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664208" y="253288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프로파일 파싱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추출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980944" y="24231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044952" y="22585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54096" y="1051560"/>
            <a:ext cx="1335024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054096" y="1051560"/>
            <a:ext cx="1335024" cy="54864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4" name="Text 20"/>
          <p:cNvSpPr/>
          <p:nvPr/>
        </p:nvSpPr>
        <p:spPr>
          <a:xfrm>
            <a:off x="3127248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74136" y="1252728"/>
            <a:ext cx="694944" cy="694944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353312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108960" y="2057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레이어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108960" y="253288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메타데이터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425696" y="24231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489704" y="22585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498848" y="1051560"/>
            <a:ext cx="1335024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498848" y="1051560"/>
            <a:ext cx="133502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Text 28"/>
          <p:cNvSpPr/>
          <p:nvPr/>
        </p:nvSpPr>
        <p:spPr>
          <a:xfrm>
            <a:off x="457200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818888" y="1252728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1353312"/>
            <a:ext cx="493776" cy="49377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553712" y="2057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+ D 레이어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553712" y="253288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청크 검색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검색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870448" y="24231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934456" y="22585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943600" y="1051560"/>
            <a:ext cx="1335024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5943600" y="1051560"/>
            <a:ext cx="133502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2" name="Text 36"/>
          <p:cNvSpPr/>
          <p:nvPr/>
        </p:nvSpPr>
        <p:spPr>
          <a:xfrm>
            <a:off x="6016752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6263640" y="1252728"/>
            <a:ext cx="694944" cy="694944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1353312"/>
            <a:ext cx="493776" cy="49377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998464" y="2057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레이어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5998464" y="253288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 판정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생성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7315200" y="24231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379208" y="22585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7388352" y="1051560"/>
            <a:ext cx="1335024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7388352" y="1051560"/>
            <a:ext cx="1335024" cy="54864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1" name="Text 44"/>
          <p:cNvSpPr/>
          <p:nvPr/>
        </p:nvSpPr>
        <p:spPr>
          <a:xfrm>
            <a:off x="7461504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708392" y="1252728"/>
            <a:ext cx="694944" cy="694944"/>
          </a:xfrm>
          <a:prstGeom prst="ellipse">
            <a:avLst/>
          </a:prstGeom>
          <a:solidFill>
            <a:srgbClr val="4F8EF7"/>
          </a:solidFill>
          <a:ln/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976" y="1353312"/>
            <a:ext cx="493776" cy="493776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7443216" y="2057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응답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7443216" y="253288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정책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출처·사유 포함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228600" y="4709160"/>
            <a:ext cx="8686800" cy="301752"/>
          </a:xfrm>
          <a:prstGeom prst="rect">
            <a:avLst/>
          </a:prstGeom>
          <a:solidFill>
            <a:srgbClr val="F1F5FE"/>
          </a:solidFill>
          <a:ln/>
        </p:spPr>
      </p:sp>
      <p:sp>
        <p:nvSpPr>
          <p:cNvPr id="57" name="Text 49"/>
          <p:cNvSpPr/>
          <p:nvPr/>
        </p:nvSpPr>
        <p:spPr>
          <a:xfrm>
            <a:off x="365760" y="4727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파이프라인 시각화 자료(다이어그램)는 이 슬라이드에 직접 삽입 예정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주요 기능 &amp; 차별성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114800" cy="1828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54864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548640" cy="548640"/>
          </a:xfrm>
          <a:prstGeom prst="ellipse">
            <a:avLst/>
          </a:prstGeom>
          <a:solidFill>
            <a:srgbClr val="4F8EF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0642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033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자격 판정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819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나이·지역·고용상태 등을 자동 추출해 가능 / 확인 필요 / 불가 3단계로 판정. 모르는 조건은 추정하지 않고 안전하게 처리.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350008"/>
            <a:ext cx="3840480" cy="246888"/>
          </a:xfrm>
          <a:prstGeom prst="rect">
            <a:avLst/>
          </a:prstGeom>
          <a:solidFill>
            <a:srgbClr val="4F8EF7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35915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단순 키워드 검색이 아닌 구조화된 조건 매칭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4114800" cy="1828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868680"/>
            <a:ext cx="4114800" cy="54864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892040" y="1033272"/>
            <a:ext cx="548640" cy="54864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10642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9552" y="1033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검색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92040" y="15819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키워드 검색과 Dense 임베딩 검색을 결합한 하이브리드 방식으로 표현이 달라도 관련 정책을 정확하게 탐색.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92040" y="2350008"/>
            <a:ext cx="3840480" cy="246888"/>
          </a:xfrm>
          <a:prstGeom prst="rect">
            <a:avLst/>
          </a:prstGeom>
          <a:solidFill>
            <a:srgbClr val="7C5CFC">
              <a:alpha val="1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235915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검색 커버리지와 정확도 동시 확보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0040" y="2880360"/>
            <a:ext cx="4114800" cy="1828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320040" y="288036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8"/>
          <p:cNvSpPr/>
          <p:nvPr/>
        </p:nvSpPr>
        <p:spPr>
          <a:xfrm>
            <a:off x="457200" y="30449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118104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24712" y="30449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기반 응답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57200" y="3593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이유, 공고문 출처 URL, 추가 확인 필요 사항을 함께 제공. 챗봇이 임의로 내용을 만들지 않고 원문 chunk만 활용.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57200" y="4361688"/>
            <a:ext cx="3840480" cy="24688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502920" y="43708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할루시네이션 최소화, 신뢰도 극대화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754880" y="2880360"/>
            <a:ext cx="4114800" cy="18288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4754880" y="2880360"/>
            <a:ext cx="41148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Shape 25"/>
          <p:cNvSpPr/>
          <p:nvPr/>
        </p:nvSpPr>
        <p:spPr>
          <a:xfrm>
            <a:off x="4892040" y="304495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118104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59552" y="30449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4-레이어 모듈 구조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892040" y="3593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A(정책DB) · B(청킹) · C(파서) · D(검색·응답)가 독립적으로 개발·교체 가능. 정책 추가 시 A·B만 업데이트하면 전체 반영.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892040" y="4361688"/>
            <a:ext cx="3840480" cy="246888"/>
          </a:xfrm>
          <a:prstGeom prst="rect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4937760" y="43708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유지보수·확장이 쉬운 아키텍처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2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8EF7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시연 영상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097280" y="1234440"/>
            <a:ext cx="6949440" cy="3291840"/>
          </a:xfrm>
          <a:prstGeom prst="rect">
            <a:avLst/>
          </a:prstGeom>
          <a:solidFill>
            <a:srgbClr val="111827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2331720"/>
            <a:ext cx="1097280" cy="1097280"/>
          </a:xfrm>
          <a:prstGeom prst="ellipse">
            <a:avLst/>
          </a:prstGeom>
          <a:solidFill>
            <a:srgbClr val="4F8EF7">
              <a:alpha val="80000"/>
            </a:srgbClr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487168"/>
            <a:ext cx="731520" cy="731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7280" y="13716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시연 영상 삽입 ]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42519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영역에 실제 구동 영상을 삽입해주세요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구성원 업그레이드 자랑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822960"/>
            <a:ext cx="17373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822960"/>
            <a:ext cx="1737360" cy="1051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987552"/>
            <a:ext cx="585216" cy="585216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0607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" y="1627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9808" y="1938528"/>
            <a:ext cx="4572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938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김소현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6888" y="2267712"/>
            <a:ext cx="1463040" cy="0"/>
          </a:xfrm>
          <a:prstGeom prst="line">
            <a:avLst/>
          </a:prstGeom>
          <a:noFill/>
          <a:ln w="10160">
            <a:solidFill>
              <a:srgbClr val="4F8EF7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168" y="2359152"/>
            <a:ext cx="15544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여기에 업그레이드 내용을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작성해 주세요.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개선한 기능, 성능 향상,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추가한 로직 등을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자유롭게 적어주세요.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731520"/>
            <a:ext cx="17373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20240" y="822960"/>
            <a:ext cx="1737360" cy="1051560"/>
          </a:xfrm>
          <a:prstGeom prst="rect">
            <a:avLst/>
          </a:prstGeom>
          <a:solidFill>
            <a:srgbClr val="B14AB4"/>
          </a:solidFill>
          <a:ln/>
        </p:spPr>
      </p:sp>
      <p:sp>
        <p:nvSpPr>
          <p:cNvPr id="15" name="Shape 12"/>
          <p:cNvSpPr/>
          <p:nvPr/>
        </p:nvSpPr>
        <p:spPr>
          <a:xfrm>
            <a:off x="2496312" y="987552"/>
            <a:ext cx="585216" cy="585216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060704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75104" y="1627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560320" y="1938528"/>
            <a:ext cx="457200" cy="228600"/>
          </a:xfrm>
          <a:prstGeom prst="rect">
            <a:avLst/>
          </a:prstGeom>
          <a:solidFill>
            <a:srgbClr val="B14AB4"/>
          </a:solidFill>
          <a:ln/>
        </p:spPr>
      </p:sp>
      <p:sp>
        <p:nvSpPr>
          <p:cNvPr id="19" name="Text 15"/>
          <p:cNvSpPr/>
          <p:nvPr/>
        </p:nvSpPr>
        <p:spPr>
          <a:xfrm>
            <a:off x="2560320" y="1938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김효균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057400" y="2267712"/>
            <a:ext cx="1463040" cy="0"/>
          </a:xfrm>
          <a:prstGeom prst="line">
            <a:avLst/>
          </a:prstGeom>
          <a:noFill/>
          <a:ln w="10160">
            <a:solidFill>
              <a:srgbClr val="7C5CFC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11680" y="2359152"/>
            <a:ext cx="15544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여기에 업그레이드 내용을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작성해 주세요.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개선한 기능, 성능 향상,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추가한 로직 등을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자유롭게 적어주세요.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730752" y="822960"/>
            <a:ext cx="17373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30752" y="822960"/>
            <a:ext cx="1737360" cy="1051560"/>
          </a:xfrm>
          <a:prstGeom prst="rect">
            <a:avLst/>
          </a:prstGeom>
          <a:solidFill>
            <a:srgbClr val="D49B2A"/>
          </a:solidFill>
          <a:ln/>
        </p:spPr>
      </p:sp>
      <p:sp>
        <p:nvSpPr>
          <p:cNvPr id="24" name="Shape 20"/>
          <p:cNvSpPr/>
          <p:nvPr/>
        </p:nvSpPr>
        <p:spPr>
          <a:xfrm>
            <a:off x="4306824" y="987552"/>
            <a:ext cx="585216" cy="585216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060704"/>
            <a:ext cx="438912" cy="4389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85616" y="1627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370832" y="1938528"/>
            <a:ext cx="457200" cy="228600"/>
          </a:xfrm>
          <a:prstGeom prst="rect">
            <a:avLst/>
          </a:prstGeom>
          <a:solidFill>
            <a:srgbClr val="D49B2A"/>
          </a:solidFill>
          <a:ln/>
        </p:spPr>
      </p:sp>
      <p:sp>
        <p:nvSpPr>
          <p:cNvPr id="28" name="Text 23"/>
          <p:cNvSpPr/>
          <p:nvPr/>
        </p:nvSpPr>
        <p:spPr>
          <a:xfrm>
            <a:off x="4370832" y="1938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오세덕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Shape 24"/>
          <p:cNvSpPr/>
          <p:nvPr/>
        </p:nvSpPr>
        <p:spPr>
          <a:xfrm>
            <a:off x="3867912" y="2267712"/>
            <a:ext cx="1463040" cy="0"/>
          </a:xfrm>
          <a:prstGeom prst="line">
            <a:avLst/>
          </a:prstGeom>
          <a:noFill/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822192" y="2359152"/>
            <a:ext cx="15544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여기에 업그레이드 내용을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작성해 주세요.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개선한 기능, 성능 향상,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추가한 로직 등을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자유롭게 적어주세요.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541264" y="822960"/>
            <a:ext cx="17373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541264" y="822960"/>
            <a:ext cx="1737360" cy="105156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3" name="Shape 28"/>
          <p:cNvSpPr/>
          <p:nvPr/>
        </p:nvSpPr>
        <p:spPr>
          <a:xfrm>
            <a:off x="6117336" y="987552"/>
            <a:ext cx="585216" cy="585216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060704"/>
            <a:ext cx="438912" cy="43891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96128" y="1627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181344" y="1938528"/>
            <a:ext cx="4572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7" name="Text 31"/>
          <p:cNvSpPr/>
          <p:nvPr/>
        </p:nvSpPr>
        <p:spPr>
          <a:xfrm>
            <a:off x="6181344" y="1938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김형진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Shape 32"/>
          <p:cNvSpPr/>
          <p:nvPr/>
        </p:nvSpPr>
        <p:spPr>
          <a:xfrm>
            <a:off x="5678424" y="2267712"/>
            <a:ext cx="1463040" cy="0"/>
          </a:xfrm>
          <a:prstGeom prst="line">
            <a:avLst/>
          </a:prstGeom>
          <a:noFill/>
          <a:ln w="10160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632704" y="2359152"/>
            <a:ext cx="15544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여기에 업그레이드 내용을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작성해 주세요.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개선한 기능, 성능 향상,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추가한 로직 등을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자유롭게 적어주세요.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7351776" y="822960"/>
            <a:ext cx="17373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351776" y="822960"/>
            <a:ext cx="1737360" cy="1051560"/>
          </a:xfrm>
          <a:prstGeom prst="rect">
            <a:avLst/>
          </a:prstGeom>
          <a:solidFill>
            <a:srgbClr val="B94545"/>
          </a:solidFill>
          <a:ln/>
        </p:spPr>
      </p:sp>
      <p:sp>
        <p:nvSpPr>
          <p:cNvPr id="42" name="Shape 36"/>
          <p:cNvSpPr/>
          <p:nvPr/>
        </p:nvSpPr>
        <p:spPr>
          <a:xfrm>
            <a:off x="7927848" y="987552"/>
            <a:ext cx="585216" cy="585216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1060704"/>
            <a:ext cx="438912" cy="43891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406640" y="1627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7991856" y="1938528"/>
            <a:ext cx="457200" cy="228600"/>
          </a:xfrm>
          <a:prstGeom prst="rect">
            <a:avLst/>
          </a:prstGeom>
          <a:solidFill>
            <a:srgbClr val="B94545"/>
          </a:solidFill>
          <a:ln/>
        </p:spPr>
      </p:sp>
      <p:sp>
        <p:nvSpPr>
          <p:cNvPr id="46" name="Text 39"/>
          <p:cNvSpPr/>
          <p:nvPr/>
        </p:nvSpPr>
        <p:spPr>
          <a:xfrm>
            <a:off x="7991856" y="1938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김준서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7" name="Shape 40"/>
          <p:cNvSpPr/>
          <p:nvPr/>
        </p:nvSpPr>
        <p:spPr>
          <a:xfrm>
            <a:off x="7488936" y="2267712"/>
            <a:ext cx="1463040" cy="0"/>
          </a:xfrm>
          <a:prstGeom prst="line">
            <a:avLst/>
          </a:prstGeom>
          <a:noFill/>
          <a:ln w="1016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443216" y="2359152"/>
            <a:ext cx="1554480" cy="198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ko-KR" altLang="en-US" sz="1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이번 프로젝트에서는 </a:t>
            </a:r>
            <a:r>
              <a:rPr lang="ko-KR" altLang="en-US" sz="1000" dirty="0"/>
              <a:t>정적 데이터 처리 중심의 </a:t>
            </a:r>
            <a:r>
              <a:rPr lang="ko-KR" altLang="en-US" sz="1000" dirty="0" err="1"/>
              <a:t>백엔드에서</a:t>
            </a:r>
            <a:r>
              <a:rPr lang="ko-KR" altLang="en-US" sz="1000" dirty="0"/>
              <a:t> 벗어나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 err="1"/>
              <a:t>Redis</a:t>
            </a:r>
            <a:r>
              <a:rPr lang="en-US" altLang="ko-KR" sz="1000" dirty="0"/>
              <a:t> </a:t>
            </a:r>
            <a:r>
              <a:rPr lang="ko-KR" altLang="en-US" sz="1000" dirty="0"/>
              <a:t>기반 세션 및 상태 관리 구조를 </a:t>
            </a:r>
            <a:r>
              <a:rPr lang="ko-KR" altLang="en-US" sz="1000" dirty="0" smtClean="0"/>
              <a:t>설계 후</a:t>
            </a:r>
            <a:r>
              <a:rPr lang="ko-KR" altLang="en-US" sz="1000" dirty="0"/>
              <a:t/>
            </a:r>
            <a:br>
              <a:rPr lang="ko-KR" altLang="en-US" sz="1000" dirty="0"/>
            </a:br>
            <a:r>
              <a:rPr lang="ko-KR" altLang="en-US" sz="1000" dirty="0"/>
              <a:t>실시간 서비스 아키텍처로 </a:t>
            </a:r>
            <a:r>
              <a:rPr lang="ko-KR" altLang="en-US" sz="1000" dirty="0" smtClean="0"/>
              <a:t>확장하며</a:t>
            </a:r>
            <a:r>
              <a:rPr lang="en-US" altLang="ko-KR" sz="1000" dirty="0" smtClean="0"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000" dirty="0" smtClean="0">
                <a:latin typeface="Calibri" pitchFamily="34" charset="0"/>
                <a:cs typeface="Calibri" pitchFamily="34" charset="-120"/>
              </a:rPr>
              <a:t>서비스 구조에 대한 이해도를 한 단계 끌어올렸습니다</a:t>
            </a:r>
            <a:r>
              <a:rPr lang="en-US" altLang="ko-KR" sz="1000" dirty="0" smtClean="0">
                <a:latin typeface="Calibri" pitchFamily="34" charset="0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584</Words>
  <Application>Microsoft Office PowerPoint</Application>
  <PresentationFormat>화면 슬라이드 쇼(16:9)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새굴림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Youth-Sync</dc:title>
  <dc:subject>PptxGenJS Presentation</dc:subject>
  <dc:creator>PptxGenJS</dc:creator>
  <cp:lastModifiedBy>hu</cp:lastModifiedBy>
  <cp:revision>9</cp:revision>
  <dcterms:created xsi:type="dcterms:W3CDTF">2026-04-24T02:20:18Z</dcterms:created>
  <dcterms:modified xsi:type="dcterms:W3CDTF">2026-04-24T03:51:18Z</dcterms:modified>
</cp:coreProperties>
</file>